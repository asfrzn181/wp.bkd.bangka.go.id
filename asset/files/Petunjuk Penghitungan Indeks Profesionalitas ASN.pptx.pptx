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70" r:id="rId13"/>
    <p:sldId id="271" r:id="rId14"/>
    <p:sldId id="272" r:id="rId15"/>
    <p:sldId id="273" r:id="rId16"/>
    <p:sldId id="268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83" d="100"/>
          <a:sy n="83" d="100"/>
        </p:scale>
        <p:origin x="-222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54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9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10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3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9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4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1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5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0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28B254C-8474-48BE-BDCF-CD7F63D99539}" type="datetimeFigureOut">
              <a:rPr lang="en-US" smtClean="0"/>
              <a:pPr/>
              <a:t>2/27/2017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EC8583C-71BD-467F-B1A8-D0B0A09655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99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1590" y="210312"/>
            <a:ext cx="10058400" cy="3566160"/>
          </a:xfrm>
        </p:spPr>
        <p:txBody>
          <a:bodyPr/>
          <a:lstStyle/>
          <a:p>
            <a:pPr algn="r"/>
            <a:r>
              <a:rPr lang="en-ID" dirty="0" err="1" smtClean="0"/>
              <a:t>Petunjuk</a:t>
            </a:r>
            <a:r>
              <a:rPr lang="en-ID" dirty="0" smtClean="0"/>
              <a:t> </a:t>
            </a:r>
            <a:r>
              <a:rPr lang="en-ID" dirty="0" err="1" smtClean="0"/>
              <a:t>Penghitungan</a:t>
            </a:r>
            <a:r>
              <a:rPr lang="en-ID" dirty="0" smtClean="0"/>
              <a:t> </a:t>
            </a:r>
            <a:r>
              <a:rPr lang="en-ID" dirty="0" err="1" smtClean="0"/>
              <a:t>Indeks</a:t>
            </a:r>
            <a:r>
              <a:rPr lang="en-ID" dirty="0" smtClean="0"/>
              <a:t> </a:t>
            </a:r>
            <a:r>
              <a:rPr lang="en-ID" dirty="0" err="1" smtClean="0"/>
              <a:t>Profesionalitas</a:t>
            </a:r>
            <a:r>
              <a:rPr lang="en-ID" dirty="0" smtClean="0"/>
              <a:t> ASN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7201" y="4408798"/>
            <a:ext cx="10058400" cy="1143000"/>
          </a:xfrm>
        </p:spPr>
        <p:txBody>
          <a:bodyPr>
            <a:noAutofit/>
          </a:bodyPr>
          <a:lstStyle/>
          <a:p>
            <a:pPr algn="r"/>
            <a:r>
              <a:rPr lang="en-ID" sz="1400" dirty="0" smtClean="0"/>
              <a:t>B</a:t>
            </a:r>
            <a:r>
              <a:rPr lang="id-ID" sz="1400" dirty="0" smtClean="0"/>
              <a:t>ADAN KEPEGAWAIAN </a:t>
            </a:r>
            <a:br>
              <a:rPr lang="id-ID" sz="1400" dirty="0" smtClean="0"/>
            </a:br>
            <a:r>
              <a:rPr lang="id-ID" sz="1400" dirty="0" smtClean="0"/>
              <a:t>DAN PENGEMBANGAN SDM DAERAH </a:t>
            </a:r>
            <a:r>
              <a:rPr lang="id-ID" dirty="0" smtClean="0"/>
              <a:t/>
            </a:r>
            <a:br>
              <a:rPr lang="id-ID" dirty="0" smtClean="0"/>
            </a:br>
            <a:r>
              <a:rPr lang="id-ID" sz="1400" dirty="0" smtClean="0"/>
              <a:t>KABUPATEN BANGKA </a:t>
            </a:r>
            <a:br>
              <a:rPr lang="id-ID" sz="1400" dirty="0" smtClean="0"/>
            </a:br>
            <a:r>
              <a:rPr lang="id-ID" sz="1400" dirty="0" smtClean="0"/>
              <a:t>TAHUN 2017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7220" y="5426068"/>
            <a:ext cx="1059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600" dirty="0" smtClean="0"/>
              <a:t>Disampaikan oleh Wahidin Agus Priyono</a:t>
            </a:r>
          </a:p>
          <a:p>
            <a:pPr algn="r"/>
            <a:r>
              <a:rPr lang="id-ID" sz="1600" dirty="0" smtClean="0"/>
              <a:t>Courtesy: </a:t>
            </a:r>
            <a:r>
              <a:rPr lang="en-ID" sz="1600" i="1" dirty="0" smtClean="0">
                <a:solidFill>
                  <a:srgbClr val="00B0F0"/>
                </a:solidFill>
              </a:rPr>
              <a:t>Novi </a:t>
            </a:r>
            <a:r>
              <a:rPr lang="en-ID" sz="1600" i="1" dirty="0" err="1" smtClean="0">
                <a:solidFill>
                  <a:srgbClr val="00B0F0"/>
                </a:solidFill>
              </a:rPr>
              <a:t>Savarianti</a:t>
            </a:r>
            <a:r>
              <a:rPr lang="en-ID" sz="1600" i="1" dirty="0" smtClean="0">
                <a:solidFill>
                  <a:srgbClr val="00B0F0"/>
                </a:solidFill>
              </a:rPr>
              <a:t> </a:t>
            </a:r>
            <a:r>
              <a:rPr lang="en-ID" sz="1600" i="1" dirty="0" err="1" smtClean="0">
                <a:solidFill>
                  <a:srgbClr val="00B0F0"/>
                </a:solidFill>
              </a:rPr>
              <a:t>Fahrani</a:t>
            </a:r>
            <a:r>
              <a:rPr lang="en-ID" sz="1600" i="1" dirty="0" smtClean="0">
                <a:solidFill>
                  <a:srgbClr val="00B0F0"/>
                </a:solidFill>
              </a:rPr>
              <a:t>, SH, MH</a:t>
            </a:r>
            <a:endParaRPr lang="en-US" sz="1600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94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60689"/>
            <a:ext cx="10058400" cy="1057288"/>
          </a:xfrm>
        </p:spPr>
        <p:txBody>
          <a:bodyPr/>
          <a:lstStyle/>
          <a:p>
            <a:pPr algn="ctr"/>
            <a:r>
              <a:rPr lang="en-US" dirty="0" err="1" smtClean="0"/>
              <a:t>Sumber</a:t>
            </a:r>
            <a:r>
              <a:rPr lang="en-US" dirty="0" smtClean="0"/>
              <a:t>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95055"/>
            <a:ext cx="10058400" cy="3713018"/>
          </a:xfrm>
        </p:spPr>
        <p:txBody>
          <a:bodyPr>
            <a:noAutofit/>
          </a:bodyPr>
          <a:lstStyle/>
          <a:p>
            <a:pPr marL="358775" indent="-358775">
              <a:buFont typeface="Wingdings" pitchFamily="2" charset="2"/>
              <a:buChar char="Ø"/>
              <a:tabLst>
                <a:tab pos="263525" algn="l"/>
                <a:tab pos="360363" algn="l"/>
              </a:tabLst>
            </a:pPr>
            <a:r>
              <a:rPr lang="en-US" sz="3200" dirty="0" err="1" smtClean="0"/>
              <a:t>Sistem</a:t>
            </a:r>
            <a:r>
              <a:rPr lang="en-US" sz="3200" dirty="0" smtClean="0"/>
              <a:t> </a:t>
            </a:r>
            <a:r>
              <a:rPr lang="en-US" sz="3200" dirty="0" err="1" smtClean="0"/>
              <a:t>Aplikasi</a:t>
            </a:r>
            <a:r>
              <a:rPr lang="en-US" sz="3200" dirty="0" smtClean="0"/>
              <a:t> </a:t>
            </a:r>
            <a:r>
              <a:rPr lang="en-US" sz="3200" dirty="0" err="1" smtClean="0"/>
              <a:t>Pelayanan</a:t>
            </a:r>
            <a:r>
              <a:rPr lang="en-US" sz="3200" dirty="0" smtClean="0"/>
              <a:t> </a:t>
            </a:r>
            <a:r>
              <a:rPr lang="en-US" sz="3200" dirty="0" err="1" smtClean="0"/>
              <a:t>Kepegawaian</a:t>
            </a:r>
            <a:r>
              <a:rPr lang="en-US" sz="3200" dirty="0" smtClean="0"/>
              <a:t> (BKN) </a:t>
            </a:r>
          </a:p>
          <a:p>
            <a:pPr marL="358775" indent="-358775">
              <a:buFont typeface="Wingdings" pitchFamily="2" charset="2"/>
              <a:buChar char="Ø"/>
              <a:tabLst>
                <a:tab pos="263525" algn="l"/>
                <a:tab pos="360363" algn="l"/>
              </a:tabLst>
            </a:pPr>
            <a:r>
              <a:rPr lang="id-ID" sz="3200" dirty="0" smtClean="0"/>
              <a:t>Arsip Kepegawaian</a:t>
            </a:r>
            <a:endParaRPr lang="en-US" sz="3200" dirty="0" smtClean="0"/>
          </a:p>
          <a:p>
            <a:pPr marL="358775" indent="-358775">
              <a:buFont typeface="Wingdings" pitchFamily="2" charset="2"/>
              <a:buChar char="Ø"/>
              <a:tabLst>
                <a:tab pos="263525" algn="l"/>
                <a:tab pos="360363" algn="l"/>
              </a:tabLst>
            </a:pPr>
            <a:r>
              <a:rPr lang="en-US" sz="3200" dirty="0" err="1" smtClean="0"/>
              <a:t>Daftar</a:t>
            </a:r>
            <a:r>
              <a:rPr lang="en-US" sz="3200" dirty="0" smtClean="0"/>
              <a:t> </a:t>
            </a:r>
            <a:r>
              <a:rPr lang="en-US" sz="3200" dirty="0" err="1" smtClean="0"/>
              <a:t>Tunjangan</a:t>
            </a:r>
            <a:r>
              <a:rPr lang="en-US" sz="3200" dirty="0" smtClean="0"/>
              <a:t> </a:t>
            </a:r>
            <a:r>
              <a:rPr lang="en-US" sz="3200" dirty="0" smtClean="0"/>
              <a:t>PNS </a:t>
            </a:r>
          </a:p>
          <a:p>
            <a:pPr marL="358775" indent="-358775">
              <a:buFont typeface="Wingdings" pitchFamily="2" charset="2"/>
              <a:buChar char="Ø"/>
              <a:tabLst>
                <a:tab pos="263525" algn="l"/>
                <a:tab pos="360363" algn="l"/>
              </a:tabLst>
            </a:pPr>
            <a:r>
              <a:rPr lang="en-US" sz="3200" dirty="0" err="1" smtClean="0"/>
              <a:t>Sasaran</a:t>
            </a:r>
            <a:r>
              <a:rPr lang="en-US" sz="3200" dirty="0" smtClean="0"/>
              <a:t> </a:t>
            </a:r>
            <a:r>
              <a:rPr lang="en-US" sz="3200" dirty="0" err="1" smtClean="0"/>
              <a:t>Kerja</a:t>
            </a:r>
            <a:r>
              <a:rPr lang="en-US" sz="3200" dirty="0" smtClean="0"/>
              <a:t> </a:t>
            </a:r>
            <a:r>
              <a:rPr lang="en-US" sz="3200" dirty="0" err="1" smtClean="0"/>
              <a:t>Pegawai</a:t>
            </a:r>
            <a:r>
              <a:rPr lang="en-US" sz="3200" dirty="0" smtClean="0"/>
              <a:t> </a:t>
            </a:r>
          </a:p>
          <a:p>
            <a:pPr marL="358775" indent="-358775">
              <a:buFont typeface="Wingdings" pitchFamily="2" charset="2"/>
              <a:buChar char="Ø"/>
              <a:tabLst>
                <a:tab pos="263525" algn="l"/>
                <a:tab pos="360363" algn="l"/>
              </a:tabLst>
            </a:pPr>
            <a:r>
              <a:rPr lang="en-US" sz="3200" dirty="0" err="1" smtClean="0"/>
              <a:t>Pegawai</a:t>
            </a:r>
            <a:r>
              <a:rPr lang="en-US" sz="3200" dirty="0" smtClean="0"/>
              <a:t> Yang </a:t>
            </a:r>
            <a:r>
              <a:rPr lang="en-US" sz="3200" dirty="0" err="1" smtClean="0"/>
              <a:t>Terkena</a:t>
            </a:r>
            <a:r>
              <a:rPr lang="en-US" sz="3200" dirty="0" smtClean="0"/>
              <a:t> </a:t>
            </a:r>
            <a:r>
              <a:rPr lang="en-US" sz="3200" dirty="0" err="1" smtClean="0"/>
              <a:t>Hukuman</a:t>
            </a:r>
            <a:r>
              <a:rPr lang="en-US" sz="3200" dirty="0" smtClean="0"/>
              <a:t> </a:t>
            </a:r>
            <a:r>
              <a:rPr lang="id-ID" sz="3200" dirty="0" smtClean="0"/>
              <a:t>Disiplin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2066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32978"/>
            <a:ext cx="10058400" cy="1084997"/>
          </a:xfrm>
        </p:spPr>
        <p:txBody>
          <a:bodyPr/>
          <a:lstStyle/>
          <a:p>
            <a:pPr algn="ctr"/>
            <a:r>
              <a:rPr lang="en-US" dirty="0" err="1" smtClean="0"/>
              <a:t>Penyesuaian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47452"/>
            <a:ext cx="10058400" cy="3768437"/>
          </a:xfrm>
        </p:spPr>
        <p:txBody>
          <a:bodyPr>
            <a:noAutofit/>
          </a:bodyPr>
          <a:lstStyle/>
          <a:p>
            <a:pPr marL="360363" indent="-360363">
              <a:buFont typeface="Wingdings" pitchFamily="2" charset="2"/>
              <a:buChar char="Ø"/>
            </a:pPr>
            <a:r>
              <a:rPr lang="en-US" sz="3200" dirty="0" err="1" smtClean="0"/>
              <a:t>Kompetensi</a:t>
            </a:r>
            <a:r>
              <a:rPr lang="en-US" sz="3200" dirty="0" smtClean="0"/>
              <a:t> </a:t>
            </a:r>
            <a:r>
              <a:rPr lang="en-US" sz="3200" dirty="0" err="1" smtClean="0"/>
              <a:t>Dapat</a:t>
            </a:r>
            <a:r>
              <a:rPr lang="en-US" sz="3200" dirty="0" smtClean="0"/>
              <a:t> </a:t>
            </a:r>
            <a:r>
              <a:rPr lang="en-US" sz="3200" dirty="0" err="1" smtClean="0"/>
              <a:t>Didekati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Data </a:t>
            </a:r>
            <a:r>
              <a:rPr lang="en-US" sz="3200" dirty="0" err="1" smtClean="0"/>
              <a:t>Potensi</a:t>
            </a:r>
            <a:r>
              <a:rPr lang="en-US" sz="3200" dirty="0" smtClean="0"/>
              <a:t> Yang Ada </a:t>
            </a:r>
            <a:r>
              <a:rPr lang="en-US" sz="3200" dirty="0" err="1" smtClean="0"/>
              <a:t>Dalam</a:t>
            </a:r>
            <a:r>
              <a:rPr lang="en-US" sz="3200" dirty="0" smtClean="0"/>
              <a:t> </a:t>
            </a:r>
            <a:r>
              <a:rPr lang="id-ID" sz="3200" dirty="0" smtClean="0"/>
              <a:t>SAPK</a:t>
            </a:r>
            <a:r>
              <a:rPr lang="en-US" sz="3200" dirty="0" smtClean="0"/>
              <a:t>.</a:t>
            </a:r>
            <a:endParaRPr lang="en-US" sz="3200" dirty="0" smtClean="0"/>
          </a:p>
          <a:p>
            <a:pPr marL="360363" indent="-360363">
              <a:buFont typeface="Wingdings" pitchFamily="2" charset="2"/>
              <a:buChar char="Ø"/>
            </a:pPr>
            <a:r>
              <a:rPr lang="en-US" sz="3200" dirty="0" err="1" smtClean="0"/>
              <a:t>Kinerja</a:t>
            </a:r>
            <a:r>
              <a:rPr lang="en-US" sz="3200" dirty="0" smtClean="0"/>
              <a:t> </a:t>
            </a:r>
            <a:r>
              <a:rPr lang="en-US" sz="3200" dirty="0" err="1" smtClean="0"/>
              <a:t>Didekati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Data </a:t>
            </a:r>
            <a:r>
              <a:rPr lang="id-ID" sz="3200" dirty="0" smtClean="0"/>
              <a:t>SKP</a:t>
            </a:r>
            <a:r>
              <a:rPr lang="en-US" sz="3200" dirty="0" smtClean="0"/>
              <a:t>. </a:t>
            </a:r>
            <a:endParaRPr lang="en-US" sz="3200" dirty="0" smtClean="0"/>
          </a:p>
          <a:p>
            <a:pPr marL="360363" indent="-360363">
              <a:buFont typeface="Wingdings" pitchFamily="2" charset="2"/>
              <a:buChar char="Ø"/>
            </a:pPr>
            <a:r>
              <a:rPr lang="en-US" sz="3200" dirty="0" err="1" smtClean="0"/>
              <a:t>Kompensasi</a:t>
            </a:r>
            <a:r>
              <a:rPr lang="en-US" sz="3200" dirty="0" smtClean="0"/>
              <a:t> </a:t>
            </a:r>
            <a:r>
              <a:rPr lang="en-US" sz="3200" dirty="0" err="1" smtClean="0"/>
              <a:t>Tunjangan</a:t>
            </a:r>
            <a:r>
              <a:rPr lang="en-US" sz="3200" dirty="0" smtClean="0"/>
              <a:t>.</a:t>
            </a:r>
          </a:p>
          <a:p>
            <a:pPr marL="360363" indent="-360363">
              <a:buFont typeface="Wingdings" pitchFamily="2" charset="2"/>
              <a:buChar char="Ø"/>
            </a:pPr>
            <a:r>
              <a:rPr lang="en-US" sz="3200" dirty="0" err="1" smtClean="0"/>
              <a:t>Organisasi</a:t>
            </a:r>
            <a:r>
              <a:rPr lang="en-US" sz="3200" dirty="0" smtClean="0"/>
              <a:t> Yang Modern </a:t>
            </a:r>
            <a:r>
              <a:rPr lang="en-US" sz="3200" dirty="0" err="1" smtClean="0"/>
              <a:t>Didekati</a:t>
            </a:r>
            <a:r>
              <a:rPr lang="en-US" sz="3200" dirty="0" smtClean="0"/>
              <a:t> </a:t>
            </a:r>
            <a:r>
              <a:rPr lang="en-US" sz="3200" dirty="0" err="1" smtClean="0"/>
              <a:t>Dengan</a:t>
            </a:r>
            <a:r>
              <a:rPr lang="en-US" sz="3200" dirty="0" smtClean="0"/>
              <a:t> Tingkat </a:t>
            </a:r>
            <a:r>
              <a:rPr lang="en-US" sz="3200" dirty="0" err="1" smtClean="0"/>
              <a:t>Disiplin</a:t>
            </a:r>
            <a:r>
              <a:rPr lang="en-US" sz="3200" dirty="0" smtClean="0"/>
              <a:t> </a:t>
            </a:r>
            <a:r>
              <a:rPr lang="en-US" sz="3200" dirty="0" err="1" smtClean="0"/>
              <a:t>Pegawai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5159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570" y="438329"/>
            <a:ext cx="10058400" cy="889054"/>
          </a:xfrm>
        </p:spPr>
        <p:txBody>
          <a:bodyPr/>
          <a:lstStyle/>
          <a:p>
            <a:pPr algn="ctr"/>
            <a:r>
              <a:rPr lang="en-US" dirty="0" err="1" smtClean="0"/>
              <a:t>Indikator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856" y="1870364"/>
            <a:ext cx="9282544" cy="43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1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71528"/>
            <a:ext cx="10058400" cy="946452"/>
          </a:xfrm>
        </p:spPr>
        <p:txBody>
          <a:bodyPr/>
          <a:lstStyle/>
          <a:p>
            <a:pPr algn="ctr"/>
            <a:r>
              <a:rPr lang="en-ID" dirty="0" err="1" smtClean="0"/>
              <a:t>Sumber</a:t>
            </a:r>
            <a:r>
              <a:rPr lang="en-ID" dirty="0" smtClean="0"/>
              <a:t>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455" y="1856508"/>
            <a:ext cx="9615054" cy="428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00545"/>
            <a:ext cx="10058400" cy="836815"/>
          </a:xfrm>
        </p:spPr>
        <p:txBody>
          <a:bodyPr/>
          <a:lstStyle/>
          <a:p>
            <a:pPr algn="ctr"/>
            <a:r>
              <a:rPr lang="en-ID" dirty="0" smtClean="0"/>
              <a:t>Cara </a:t>
            </a:r>
            <a:r>
              <a:rPr lang="en-ID" dirty="0" err="1" smtClean="0"/>
              <a:t>Penghitungan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8315" y="1871591"/>
            <a:ext cx="10369731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4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24977"/>
          </a:xfrm>
        </p:spPr>
        <p:txBody>
          <a:bodyPr anchor="t"/>
          <a:lstStyle/>
          <a:p>
            <a:pPr algn="ctr"/>
            <a:r>
              <a:rPr lang="en-ID" dirty="0" err="1" smtClean="0"/>
              <a:t>Metode</a:t>
            </a:r>
            <a:r>
              <a:rPr lang="en-ID" dirty="0" smtClean="0"/>
              <a:t> </a:t>
            </a:r>
            <a:r>
              <a:rPr lang="en-ID" dirty="0" err="1" smtClean="0"/>
              <a:t>Penghitungan</a:t>
            </a:r>
            <a:r>
              <a:rPr lang="en-ID" dirty="0" smtClean="0"/>
              <a:t> </a:t>
            </a:r>
            <a:r>
              <a:rPr lang="en-ID" dirty="0" err="1" smtClean="0"/>
              <a:t>Kompetensi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91" y="1394595"/>
            <a:ext cx="10002982" cy="400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4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073" y="362296"/>
            <a:ext cx="10058400" cy="712124"/>
          </a:xfrm>
        </p:spPr>
        <p:txBody>
          <a:bodyPr>
            <a:normAutofit fontScale="90000"/>
          </a:bodyPr>
          <a:lstStyle/>
          <a:p>
            <a:r>
              <a:rPr lang="en-ID" dirty="0" err="1" smtClean="0"/>
              <a:t>Metode</a:t>
            </a:r>
            <a:r>
              <a:rPr lang="en-ID" dirty="0" smtClean="0"/>
              <a:t> </a:t>
            </a:r>
            <a:r>
              <a:rPr lang="en-ID" dirty="0" err="1" smtClean="0"/>
              <a:t>Penghitungan</a:t>
            </a:r>
            <a:r>
              <a:rPr lang="en-ID" dirty="0" smtClean="0"/>
              <a:t> </a:t>
            </a:r>
            <a:r>
              <a:rPr lang="en-ID" dirty="0" err="1" smtClean="0"/>
              <a:t>Kinerja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35" y="1158920"/>
            <a:ext cx="10016837" cy="439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4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942109"/>
            <a:ext cx="10058400" cy="795251"/>
          </a:xfrm>
        </p:spPr>
        <p:txBody>
          <a:bodyPr/>
          <a:lstStyle/>
          <a:p>
            <a:pPr algn="ctr"/>
            <a:r>
              <a:rPr lang="en-ID" dirty="0" err="1" smtClean="0"/>
              <a:t>Metode</a:t>
            </a:r>
            <a:r>
              <a:rPr lang="en-ID" dirty="0" smtClean="0"/>
              <a:t> </a:t>
            </a:r>
            <a:r>
              <a:rPr lang="en-ID" dirty="0" err="1" smtClean="0"/>
              <a:t>Penghitungan</a:t>
            </a:r>
            <a:r>
              <a:rPr lang="en-ID" dirty="0" smtClean="0"/>
              <a:t> </a:t>
            </a:r>
            <a:r>
              <a:rPr lang="en-ID" dirty="0" err="1" smtClean="0"/>
              <a:t>Kompensasi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954355"/>
              </p:ext>
            </p:extLst>
          </p:nvPr>
        </p:nvGraphicFramePr>
        <p:xfrm>
          <a:off x="1233056" y="2164977"/>
          <a:ext cx="9933709" cy="31869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018">
                  <a:extLst>
                    <a:ext uri="{9D8B030D-6E8A-4147-A177-3AD203B41FA5}">
                      <a16:colId xmlns="" xmlns:a16="http://schemas.microsoft.com/office/drawing/2014/main" val="2056309793"/>
                    </a:ext>
                  </a:extLst>
                </a:gridCol>
                <a:gridCol w="1425310">
                  <a:extLst>
                    <a:ext uri="{9D8B030D-6E8A-4147-A177-3AD203B41FA5}">
                      <a16:colId xmlns="" xmlns:a16="http://schemas.microsoft.com/office/drawing/2014/main" val="2922565682"/>
                    </a:ext>
                  </a:extLst>
                </a:gridCol>
                <a:gridCol w="1859854">
                  <a:extLst>
                    <a:ext uri="{9D8B030D-6E8A-4147-A177-3AD203B41FA5}">
                      <a16:colId xmlns="" xmlns:a16="http://schemas.microsoft.com/office/drawing/2014/main" val="3457202850"/>
                    </a:ext>
                  </a:extLst>
                </a:gridCol>
                <a:gridCol w="1707763">
                  <a:extLst>
                    <a:ext uri="{9D8B030D-6E8A-4147-A177-3AD203B41FA5}">
                      <a16:colId xmlns="" xmlns:a16="http://schemas.microsoft.com/office/drawing/2014/main" val="4159566650"/>
                    </a:ext>
                  </a:extLst>
                </a:gridCol>
                <a:gridCol w="1494836">
                  <a:extLst>
                    <a:ext uri="{9D8B030D-6E8A-4147-A177-3AD203B41FA5}">
                      <a16:colId xmlns="" xmlns:a16="http://schemas.microsoft.com/office/drawing/2014/main" val="2973659963"/>
                    </a:ext>
                  </a:extLst>
                </a:gridCol>
                <a:gridCol w="2124928">
                  <a:extLst>
                    <a:ext uri="{9D8B030D-6E8A-4147-A177-3AD203B41FA5}">
                      <a16:colId xmlns="" xmlns:a16="http://schemas.microsoft.com/office/drawing/2014/main" val="1735015051"/>
                    </a:ext>
                  </a:extLst>
                </a:gridCol>
              </a:tblGrid>
              <a:tr h="9657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 err="1" smtClean="0">
                          <a:effectLst/>
                        </a:rPr>
                        <a:t>Eselon</a:t>
                      </a:r>
                      <a:r>
                        <a:rPr lang="en-US" sz="1400" u="none" strike="noStrike" dirty="0" smtClean="0">
                          <a:effectLst/>
                        </a:rPr>
                        <a:t> 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Jumlah Pejabat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Tertinggi 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 dirty="0" err="1">
                          <a:effectLst/>
                        </a:rPr>
                        <a:t>Terendah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Selisih  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 Selisih terhadap Terendah 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4030906979"/>
                  </a:ext>
                </a:extLst>
              </a:tr>
              <a:tr h="405612"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 dirty="0">
                          <a:effectLst/>
                        </a:rPr>
                        <a:t>                             </a:t>
                      </a:r>
                      <a:r>
                        <a:rPr lang="en-US" sz="1200" u="none" strike="noStrike" dirty="0" smtClean="0">
                          <a:effectLst/>
                        </a:rPr>
                        <a:t>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358343820"/>
                  </a:ext>
                </a:extLst>
              </a:tr>
              <a:tr h="405612"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 dirty="0">
                          <a:effectLst/>
                        </a:rPr>
                        <a:t>                             </a:t>
                      </a:r>
                      <a:r>
                        <a:rPr lang="en-US" sz="1200" u="none" strike="noStrike" dirty="0" smtClean="0">
                          <a:effectLst/>
                        </a:rPr>
                        <a:t>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 dirty="0">
                          <a:effectLst/>
                        </a:rPr>
                        <a:t>                          </a:t>
                      </a:r>
                      <a:r>
                        <a:rPr lang="en-US" sz="1200" u="none" strike="noStrike" dirty="0" smtClean="0">
                          <a:effectLst/>
                        </a:rPr>
                        <a:t>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1627860321"/>
                  </a:ext>
                </a:extLst>
              </a:tr>
              <a:tr h="405612"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 dirty="0">
                          <a:effectLst/>
                        </a:rPr>
                        <a:t>                             </a:t>
                      </a:r>
                      <a:r>
                        <a:rPr lang="en-US" sz="1200" u="none" strike="noStrike" dirty="0" smtClean="0">
                          <a:effectLst/>
                        </a:rPr>
                        <a:t>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200" u="none" strike="noStrike" dirty="0">
                          <a:effectLst/>
                        </a:rPr>
                        <a:t>                          </a:t>
                      </a:r>
                      <a:r>
                        <a:rPr lang="en-US" sz="1200" u="none" strike="noStrike" dirty="0" smtClean="0">
                          <a:effectLst/>
                        </a:rPr>
                        <a:t>  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2841736562"/>
                  </a:ext>
                </a:extLst>
              </a:tr>
              <a:tr h="40561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u="none" strike="noStrike" dirty="0">
                          <a:effectLst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2552662023"/>
                  </a:ext>
                </a:extLst>
              </a:tr>
              <a:tr h="59876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Total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213357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506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 smtClean="0"/>
              <a:t>Metode</a:t>
            </a:r>
            <a:r>
              <a:rPr lang="en-ID" dirty="0" smtClean="0"/>
              <a:t> </a:t>
            </a:r>
            <a:r>
              <a:rPr lang="en-ID" dirty="0" err="1" smtClean="0"/>
              <a:t>Penghitungan</a:t>
            </a:r>
            <a:r>
              <a:rPr lang="en-ID" dirty="0" smtClean="0"/>
              <a:t> </a:t>
            </a:r>
            <a:r>
              <a:rPr lang="en-ID" dirty="0" err="1" smtClean="0"/>
              <a:t>Disiplin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746024"/>
              </p:ext>
            </p:extLst>
          </p:nvPr>
        </p:nvGraphicFramePr>
        <p:xfrm>
          <a:off x="861059" y="1934528"/>
          <a:ext cx="10515602" cy="34979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7628">
                  <a:extLst>
                    <a:ext uri="{9D8B030D-6E8A-4147-A177-3AD203B41FA5}">
                      <a16:colId xmlns="" xmlns:a16="http://schemas.microsoft.com/office/drawing/2014/main" val="1660270110"/>
                    </a:ext>
                  </a:extLst>
                </a:gridCol>
                <a:gridCol w="3497630">
                  <a:extLst>
                    <a:ext uri="{9D8B030D-6E8A-4147-A177-3AD203B41FA5}">
                      <a16:colId xmlns="" xmlns:a16="http://schemas.microsoft.com/office/drawing/2014/main" val="1998154762"/>
                    </a:ext>
                  </a:extLst>
                </a:gridCol>
                <a:gridCol w="3497630">
                  <a:extLst>
                    <a:ext uri="{9D8B030D-6E8A-4147-A177-3AD203B41FA5}">
                      <a16:colId xmlns="" xmlns:a16="http://schemas.microsoft.com/office/drawing/2014/main" val="1106596908"/>
                    </a:ext>
                  </a:extLst>
                </a:gridCol>
                <a:gridCol w="2702714">
                  <a:extLst>
                    <a:ext uri="{9D8B030D-6E8A-4147-A177-3AD203B41FA5}">
                      <a16:colId xmlns="" xmlns:a16="http://schemas.microsoft.com/office/drawing/2014/main" val="4293428000"/>
                    </a:ext>
                  </a:extLst>
                </a:gridCol>
              </a:tblGrid>
              <a:tr h="69611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No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Jenis Pelanggaran 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Jumlah 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Total 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679491386"/>
                  </a:ext>
                </a:extLst>
              </a:tr>
              <a:tr h="5742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Berat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846210272"/>
                  </a:ext>
                </a:extLst>
              </a:tr>
              <a:tr h="5568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Sedang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3441510797"/>
                  </a:ext>
                </a:extLst>
              </a:tr>
              <a:tr h="5568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Ringan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870070695"/>
                  </a:ext>
                </a:extLst>
              </a:tr>
              <a:tr h="5568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Total </a:t>
                      </a:r>
                      <a:r>
                        <a:rPr lang="en-US" sz="1800" u="none" strike="noStrike" dirty="0" err="1" smtClean="0">
                          <a:effectLst/>
                        </a:rPr>
                        <a:t>Pegawai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2467188115"/>
                  </a:ext>
                </a:extLst>
              </a:tr>
              <a:tr h="55689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u="none" strike="noStrike">
                          <a:effectLst/>
                        </a:rPr>
                        <a:t>Pelanggaran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="" xmlns:a16="http://schemas.microsoft.com/office/drawing/2014/main" val="3986489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825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247304"/>
            <a:ext cx="11658600" cy="781396"/>
          </a:xfrm>
        </p:spPr>
        <p:txBody>
          <a:bodyPr anchor="t">
            <a:normAutofit fontScale="90000"/>
          </a:bodyPr>
          <a:lstStyle/>
          <a:p>
            <a:r>
              <a:rPr lang="en-ID" dirty="0" err="1" smtClean="0"/>
              <a:t>Hasil</a:t>
            </a:r>
            <a:r>
              <a:rPr lang="en-ID" dirty="0" smtClean="0"/>
              <a:t> </a:t>
            </a:r>
            <a:r>
              <a:rPr lang="en-ID" dirty="0" err="1" smtClean="0"/>
              <a:t>Penghitungan</a:t>
            </a:r>
            <a:r>
              <a:rPr lang="en-ID" dirty="0" smtClean="0"/>
              <a:t> </a:t>
            </a:r>
            <a:r>
              <a:rPr lang="en-ID" dirty="0" err="1" smtClean="0"/>
              <a:t>Indeks</a:t>
            </a:r>
            <a:r>
              <a:rPr lang="en-ID" dirty="0" smtClean="0"/>
              <a:t> </a:t>
            </a:r>
            <a:r>
              <a:rPr lang="en-ID" dirty="0" err="1" smtClean="0"/>
              <a:t>Profesionalitas</a:t>
            </a:r>
            <a:r>
              <a:rPr lang="en-ID" dirty="0" smtClean="0"/>
              <a:t> ASN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5" t="28438" r="58887" b="28438"/>
          <a:stretch/>
        </p:blipFill>
        <p:spPr bwMode="auto">
          <a:xfrm>
            <a:off x="1588770" y="1147854"/>
            <a:ext cx="7955280" cy="5012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586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377"/>
            <a:ext cx="10515600" cy="789351"/>
          </a:xfrm>
        </p:spPr>
        <p:txBody>
          <a:bodyPr>
            <a:normAutofit/>
          </a:bodyPr>
          <a:lstStyle/>
          <a:p>
            <a:r>
              <a:rPr lang="en-ID" sz="3600" dirty="0" err="1" smtClean="0"/>
              <a:t>Contoh</a:t>
            </a:r>
            <a:r>
              <a:rPr lang="en-ID" sz="3600" dirty="0" smtClean="0"/>
              <a:t> </a:t>
            </a:r>
            <a:r>
              <a:rPr lang="en-ID" sz="3600" dirty="0" err="1" smtClean="0"/>
              <a:t>Pengisian</a:t>
            </a:r>
            <a:r>
              <a:rPr lang="en-ID" sz="3600" dirty="0" smtClean="0"/>
              <a:t> </a:t>
            </a:r>
            <a:r>
              <a:rPr lang="en-ID" sz="3600" dirty="0" err="1" smtClean="0"/>
              <a:t>Penghitungan</a:t>
            </a:r>
            <a:r>
              <a:rPr lang="en-ID" sz="3600" dirty="0" smtClean="0"/>
              <a:t> </a:t>
            </a:r>
            <a:r>
              <a:rPr lang="en-ID" sz="3600" dirty="0" err="1" smtClean="0"/>
              <a:t>Kompetensi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59" y="826306"/>
            <a:ext cx="9589771" cy="5391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037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092"/>
          </a:xfrm>
        </p:spPr>
        <p:txBody>
          <a:bodyPr>
            <a:normAutofit fontScale="90000"/>
          </a:bodyPr>
          <a:lstStyle/>
          <a:p>
            <a:r>
              <a:rPr lang="en-ID" dirty="0" err="1" smtClean="0"/>
              <a:t>Contoh</a:t>
            </a:r>
            <a:r>
              <a:rPr lang="en-ID" dirty="0" smtClean="0"/>
              <a:t> </a:t>
            </a:r>
            <a:r>
              <a:rPr lang="en-ID" dirty="0" err="1" smtClean="0"/>
              <a:t>Pengisian</a:t>
            </a:r>
            <a:r>
              <a:rPr lang="en-ID" dirty="0" smtClean="0"/>
              <a:t> </a:t>
            </a:r>
            <a:r>
              <a:rPr lang="en-ID" dirty="0" err="1" smtClean="0"/>
              <a:t>Penghitungan</a:t>
            </a:r>
            <a:r>
              <a:rPr lang="en-ID" dirty="0" smtClean="0"/>
              <a:t> </a:t>
            </a:r>
            <a:r>
              <a:rPr lang="en-ID" dirty="0" err="1" smtClean="0"/>
              <a:t>Kinerja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" t="28906" r="34817" b="10001"/>
          <a:stretch/>
        </p:blipFill>
        <p:spPr bwMode="auto">
          <a:xfrm>
            <a:off x="754380" y="1035113"/>
            <a:ext cx="10469880" cy="5685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578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ID" sz="3600" dirty="0" err="1" smtClean="0"/>
              <a:t>Contoh</a:t>
            </a:r>
            <a:r>
              <a:rPr lang="en-ID" sz="3600" dirty="0" smtClean="0"/>
              <a:t> </a:t>
            </a:r>
            <a:r>
              <a:rPr lang="en-ID" sz="3600" dirty="0" err="1" smtClean="0"/>
              <a:t>Pengisian</a:t>
            </a:r>
            <a:r>
              <a:rPr lang="en-ID" sz="3600" dirty="0" smtClean="0"/>
              <a:t> </a:t>
            </a:r>
            <a:r>
              <a:rPr lang="en-ID" sz="3600" dirty="0" err="1" smtClean="0"/>
              <a:t>Penghitungan</a:t>
            </a:r>
            <a:r>
              <a:rPr lang="en-ID" sz="3600" dirty="0" smtClean="0"/>
              <a:t> </a:t>
            </a:r>
            <a:r>
              <a:rPr lang="en-ID" sz="3600" dirty="0" err="1" smtClean="0"/>
              <a:t>Kompensasi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" t="30937" r="41494" b="34531"/>
          <a:stretch/>
        </p:blipFill>
        <p:spPr bwMode="auto">
          <a:xfrm>
            <a:off x="468630" y="2251710"/>
            <a:ext cx="11025554" cy="377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779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11382"/>
            <a:ext cx="10058400" cy="725978"/>
          </a:xfrm>
        </p:spPr>
        <p:txBody>
          <a:bodyPr>
            <a:normAutofit fontScale="90000"/>
          </a:bodyPr>
          <a:lstStyle/>
          <a:p>
            <a:r>
              <a:rPr lang="en-ID" dirty="0" err="1" smtClean="0"/>
              <a:t>Contoh</a:t>
            </a:r>
            <a:r>
              <a:rPr lang="en-ID" dirty="0" smtClean="0"/>
              <a:t> </a:t>
            </a:r>
            <a:r>
              <a:rPr lang="en-ID" dirty="0" err="1" smtClean="0"/>
              <a:t>Pengisian</a:t>
            </a:r>
            <a:r>
              <a:rPr lang="en-ID" dirty="0" smtClean="0"/>
              <a:t> </a:t>
            </a:r>
            <a:r>
              <a:rPr lang="en-ID" dirty="0" err="1" smtClean="0"/>
              <a:t>Penghitungan</a:t>
            </a:r>
            <a:r>
              <a:rPr lang="en-ID" dirty="0" smtClean="0"/>
              <a:t> </a:t>
            </a:r>
            <a:r>
              <a:rPr lang="en-ID" dirty="0" err="1" smtClean="0"/>
              <a:t>InDispliner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636" y="1745673"/>
            <a:ext cx="10016838" cy="43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9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ID" sz="3600" dirty="0" err="1" smtClean="0"/>
              <a:t>Contoh</a:t>
            </a:r>
            <a:r>
              <a:rPr lang="en-ID" sz="3600" dirty="0" smtClean="0"/>
              <a:t> </a:t>
            </a:r>
            <a:r>
              <a:rPr lang="en-ID" sz="3600" dirty="0" err="1" smtClean="0"/>
              <a:t>Hasil</a:t>
            </a:r>
            <a:r>
              <a:rPr lang="en-ID" sz="3600" dirty="0" smtClean="0"/>
              <a:t> </a:t>
            </a:r>
            <a:r>
              <a:rPr lang="en-ID" sz="3600" dirty="0" err="1" smtClean="0"/>
              <a:t>Penghitungan</a:t>
            </a:r>
            <a:r>
              <a:rPr lang="en-ID" sz="3600" dirty="0" smtClean="0"/>
              <a:t> </a:t>
            </a:r>
            <a:r>
              <a:rPr lang="en-ID" sz="3600" dirty="0" smtClean="0"/>
              <a:t>IP-ASN</a:t>
            </a:r>
            <a:endParaRPr lang="en-US" sz="36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" t="28125" r="59326" b="30156"/>
          <a:stretch/>
        </p:blipFill>
        <p:spPr bwMode="auto">
          <a:xfrm>
            <a:off x="1828800" y="1219710"/>
            <a:ext cx="7790594" cy="480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572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1054" y="3314699"/>
            <a:ext cx="9950335" cy="1349433"/>
          </a:xfrm>
        </p:spPr>
        <p:txBody>
          <a:bodyPr/>
          <a:lstStyle/>
          <a:p>
            <a:pPr algn="ctr"/>
            <a:r>
              <a:rPr lang="id-ID" dirty="0" smtClean="0">
                <a:latin typeface="Brush Script MT" pitchFamily="66" charset="0"/>
              </a:rPr>
              <a:t>Terima Kasih</a:t>
            </a:r>
            <a:endParaRPr lang="en-US" dirty="0">
              <a:latin typeface="Brush Script MT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015" y="448030"/>
            <a:ext cx="3398976" cy="286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26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111</TotalTime>
  <Words>148</Words>
  <Application>Microsoft Office PowerPoint</Application>
  <PresentationFormat>Custom</PresentationFormat>
  <Paragraphs>66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Retrospect</vt:lpstr>
      <vt:lpstr>Petunjuk Penghitungan Indeks Profesionalitas ASN</vt:lpstr>
      <vt:lpstr>Sumber Data</vt:lpstr>
      <vt:lpstr>Penyesuaian</vt:lpstr>
      <vt:lpstr>Indikator</vt:lpstr>
      <vt:lpstr>Sumber Data</vt:lpstr>
      <vt:lpstr>Cara Penghitungan</vt:lpstr>
      <vt:lpstr>Metode Penghitungan Kompetensi</vt:lpstr>
      <vt:lpstr>Metode Penghitungan Kinerja</vt:lpstr>
      <vt:lpstr>Metode Penghitungan Kompensasi</vt:lpstr>
      <vt:lpstr>Metode Penghitungan Disiplin</vt:lpstr>
      <vt:lpstr>Hasil Penghitungan Indeks Profesionalitas ASN</vt:lpstr>
      <vt:lpstr>Contoh Pengisian Penghitungan Kompetensi</vt:lpstr>
      <vt:lpstr>Contoh Pengisian Penghitungan Kinerja</vt:lpstr>
      <vt:lpstr>Contoh Pengisian Penghitungan Kompensasi</vt:lpstr>
      <vt:lpstr>Contoh Pengisian Penghitungan InDispliner</vt:lpstr>
      <vt:lpstr>Contoh Hasil Penghitungan IP-ASN</vt:lpstr>
      <vt:lpstr>Terima 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Petunjuk Penghitungan Indeks Profesionalitas ASN</dc:title>
  <dc:creator>Puskalitpeg</dc:creator>
  <cp:lastModifiedBy>user</cp:lastModifiedBy>
  <cp:revision>13</cp:revision>
  <dcterms:created xsi:type="dcterms:W3CDTF">2016-12-29T04:18:13Z</dcterms:created>
  <dcterms:modified xsi:type="dcterms:W3CDTF">2017-02-27T02:04:00Z</dcterms:modified>
</cp:coreProperties>
</file>